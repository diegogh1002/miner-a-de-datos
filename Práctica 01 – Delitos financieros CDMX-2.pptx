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la propuesta del proyecto semestral: un análisis de los delitos financieros denunciados ante la FGJ de la CDMX durante 2023.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guía del proyecto. Nos enfocamos en delitos que afectan el patrimonio, mayoritariamente sin violencia física.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datasets de Administración y Finanzas del portal son agregados de pocas filas; por eso abordamos el tema financiero desde los registros de delitos, que están a nivel evento.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hora 00:00 suele significar hora desconocida según el diccionario; la tratamos como faltante.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Izquierda: tasa por 100 mil habitantes; las alcaldías centrales concentran el fraude por actividad comercial y población flotante. Derecha: día de la semana (0 = lunes) contra hora, un panel por mes; la franja oscura al mediodía se repite todo el 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la valoración de factibilidad técnica y analítica, y lo que sigue en las fases de CRISP-DM.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19250"/>
            <a:ext cx="10566400" cy="442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19250"/>
            <a:ext cx="10566400" cy="442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E9A2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MINERÍA DE DATOS · PRÁCTICA 01 · CRISP-DM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89230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Delitos financieros en la Ciudad de México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695700"/>
            <a:ext cx="108833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FC8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Dónde, cuándo y a quién afectan el fraude, la extorsión y el robo a cuentahabiente · 2023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302250"/>
            <a:ext cx="415332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8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Daniel Diego Guzmán Hernández · Jimena · Yuridia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8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Grupo 5AV1 · ESCOM-IPN · 2026-B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81163" y="5797550"/>
            <a:ext cx="429803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8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Portal de Datos Abiertos CDMX (FGJ)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Nuestra pregunta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0050"/>
            <a:ext cx="10883392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¿En qué alcaldías, meses y horas se concentran los delitos financieros en la CDMX, y qué perfil tienen sus víctimas?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879725"/>
            <a:ext cx="3380284" cy="1879600"/>
          </a:xfrm>
          <a:prstGeom prst="roundRect">
            <a:avLst>
              <a:gd name="adj" fmla="val 5236"/>
            </a:avLst>
          </a:prstGeom>
          <a:solidFill>
            <a:srgbClr val="FBFAF6"/>
          </a:solidFill>
          <a:ln w="6350">
            <a:solidFill>
              <a:srgbClr val="DCD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3136900"/>
            <a:ext cx="2951912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66A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qué lo elegimos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3150" y="3511550"/>
            <a:ext cx="295191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Casi todo lo pagamos con tarjeta o celular y los fraudes por llamada, mensaje o robo de identidad cada vez son más comunes.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09" y="2879725"/>
            <a:ext cx="3380284" cy="1879600"/>
          </a:xfrm>
          <a:prstGeom prst="roundRect">
            <a:avLst>
              <a:gd name="adj" fmla="val 5236"/>
            </a:avLst>
          </a:prstGeom>
          <a:solidFill>
            <a:srgbClr val="FBFAF6"/>
          </a:solidFill>
          <a:ln w="6350">
            <a:solidFill>
              <a:srgbClr val="DCD6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3136900"/>
            <a:ext cx="2951912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66A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encontramos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2984" y="3511550"/>
            <a:ext cx="295191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datos de finanzas del portal son tablas resumidas; la FGJ sí publica cada denuncia con fecha y ubicación.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642" y="2879725"/>
            <a:ext cx="3380383" cy="1879600"/>
          </a:xfrm>
          <a:prstGeom prst="roundRect">
            <a:avLst>
              <a:gd name="adj" fmla="val 5236"/>
            </a:avLst>
          </a:prstGeom>
          <a:solidFill>
            <a:srgbClr val="FBFAF6"/>
          </a:solidFill>
          <a:ln w="6350">
            <a:solidFill>
              <a:srgbClr val="DCD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817" y="3136900"/>
            <a:ext cx="2952014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66A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queremos lograr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2817" y="3511550"/>
            <a:ext cx="295201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Saber en qué alcaldías y horarios conviene enfocar la prevención de fraude.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Delitos incluidos: fraude, extorsión, robo a cuentahabiente, abuso de confianza, falsificación y usurpación de identidad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Dos conjuntos de la FGJ cumplen los cinco requisitos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133600"/>
          <a:ext cx="10553700" cy="2315766"/>
        </p:xfrm>
        <a:graphic>
          <a:graphicData uri="http://schemas.openxmlformats.org/drawingml/2006/table">
            <a:tbl>
              <a:tblPr/>
              <a:tblGrid>
                <a:gridCol w="2321814"/>
                <a:gridCol w="4115943"/>
                <a:gridCol w="4115943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Requisito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Carpetas de investigación FGJ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Víctimas en carpetas FGJ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a) ≥ 1 año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ene – 31 dic 2023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Inicio en 2023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b) Año y mes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anio_hecho, mes_hecho, fecha y hora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anio_hecho, mes_hecho, fecha y hora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c) Espacio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Alcaldía, colonia, latitud, longitud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Alcaldía, colonia, latitud, longitud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d) 100 mil – 4 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223,163 registros · 21 columnas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234,615 registros · 22 columnas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e) Sin fuente externa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Portal de Datos Abiertos CDMX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Portal de Datos Abiertos CDMX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754166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4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Complemento poblacional:</a:t>
            </a:r>
            <a:r>
              <a:rPr lang="en-US" sz="1600" dirty="0">
                <a:solidFill>
                  <a:srgbClr val="3D4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Censo de Población y Vivienda 2020 (INEGI) por alcaldía, para la tasa por 100 mil habitantes.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Subconjunto financiero: 33,546 carpetas (15.0 % del total) y 34,237 víctimas · Descarga vía API CKAN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Granularidad y caso de estudio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0050"/>
            <a:ext cx="5284724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66A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Tiempo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2095500"/>
            <a:ext cx="528472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Año → mes → día → hora → minuto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2635250"/>
            <a:ext cx="528472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fechas: el hecho y el inicio de la carpeta. Su diferencia mide el rezago de denuncia: mediana de 5 días en delitos financieros.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282950"/>
            <a:ext cx="5284724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66A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Espacio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3708400"/>
            <a:ext cx="528472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Coordenada → colonia → alcaldía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2800" y="4248150"/>
            <a:ext cx="528472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Análisis principal a nivel alcaldía: 16 unidades, compatible con el Censo.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8400" y="1670050"/>
            <a:ext cx="5130800" cy="3143250"/>
          </a:xfrm>
          <a:prstGeom prst="roundRect">
            <a:avLst>
              <a:gd name="adj" fmla="val 3232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604000" y="2025650"/>
            <a:ext cx="455218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E9A2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CASO DE ESTUDIO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04000" y="2476500"/>
            <a:ext cx="4552188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Tasa = carpetas financieras ÷ población × 100,000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604000" y="3898900"/>
            <a:ext cx="455218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FC8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 Iztapalapa con Benito Juárez en igualdad de condiciones, no por conteos brutos.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Dimensiones temáticas: delito, categoría, fiscalía · víctima: sexo, edad, tipo de persona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Exploración en Tableau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8450"/>
            <a:ext cx="5156200" cy="2794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pic>
        <p:nvPicPr>
          <p:cNvPr id="4" name="Image 0" descr="Barras de carpetas financieras por cada 100 mil habitantes por alcaldía; Cuauhtémoc encabeza con cerca de 95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365" y="1574800"/>
            <a:ext cx="4899069" cy="2781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975" y="1571625"/>
            <a:ext cx="5149850" cy="2787650"/>
          </a:xfrm>
          <a:prstGeom prst="roundRect">
            <a:avLst>
              <a:gd name="adj" fmla="val 3531"/>
            </a:avLst>
          </a:prstGeom>
          <a:noFill/>
          <a:ln w="6350">
            <a:solidFill>
              <a:srgbClr val="DCD6C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489450"/>
            <a:ext cx="5310886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66A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y dónde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2800" y="4889500"/>
            <a:ext cx="531088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fraude domina (más de 19 mil carpetas). Mayor tasa por 100 mil hab.: Cuauhtémoc ≈ 950, Benito Juárez ≈ 800, Miguel Hidalgo ≈ 600; menor: Milpa Alta ≈ 135.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23000" y="1568450"/>
            <a:ext cx="5156200" cy="2794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pic>
        <p:nvPicPr>
          <p:cNvPr id="9" name="Image 1" descr="Mapa de calor de carpetas financieras por mes, día de la semana y hora; franja más intensa entre 12 y 14 hor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741245"/>
            <a:ext cx="5143500" cy="244840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26175" y="1571625"/>
            <a:ext cx="5149850" cy="2787650"/>
          </a:xfrm>
          <a:prstGeom prst="roundRect">
            <a:avLst>
              <a:gd name="adj" fmla="val 3531"/>
            </a:avLst>
          </a:prstGeom>
          <a:noFill/>
          <a:ln w="6350">
            <a:solidFill>
              <a:srgbClr val="DCD6C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23000" y="4489450"/>
            <a:ext cx="5310886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66A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Cuándo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223000" y="4889500"/>
            <a:ext cx="531088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Pico al mediodía (12–14 h) todos los días y todos los meses; horario laboral, no de madrugada.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tableau_carpetas_financieras_2023.csv (33,546 carpetas) · Censo 2020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Conclusión: sí es factible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82750"/>
            <a:ext cx="3386634" cy="0"/>
          </a:xfrm>
          <a:prstGeom prst="line">
            <a:avLst/>
          </a:prstGeom>
          <a:noFill/>
          <a:ln w="25400">
            <a:solidFill>
              <a:srgbClr val="E9A2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1898650"/>
            <a:ext cx="3488233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9A2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Calidad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273300"/>
            <a:ext cx="348823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8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12,524 carpetas sin coordenadas (5.6 %); 3,407 con hora 00:00; 9,697 víctimas sin edad válida; 0 duplicados.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634" y="1682750"/>
            <a:ext cx="3386634" cy="0"/>
          </a:xfrm>
          <a:prstGeom prst="line">
            <a:avLst/>
          </a:prstGeom>
          <a:noFill/>
          <a:ln w="25400">
            <a:solidFill>
              <a:srgbClr val="E9A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2634" y="1898650"/>
            <a:ext cx="3488233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9A2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Limitaciones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02634" y="2273300"/>
            <a:ext cx="348823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8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Mide denuncias, no delitos totales; sin monto defraudado; reclasificaciones de la FGJ.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467" y="1682750"/>
            <a:ext cx="3386733" cy="0"/>
          </a:xfrm>
          <a:prstGeom prst="line">
            <a:avLst/>
          </a:prstGeom>
          <a:noFill/>
          <a:ln w="25400">
            <a:solidFill>
              <a:srgbClr val="E9A2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92467" y="1898650"/>
            <a:ext cx="3488335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9A2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Siguiente paso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92467" y="2273300"/>
            <a:ext cx="3488335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8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Limpiar en PostgreSQL, armar el modelo en estrella y probar clustering y un clasificador de colonias.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371850"/>
            <a:ext cx="10883392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 dos conjuntos cumplen los requisitos, comparten delito, fecha y alcaldía, y ya nos dieron resultados desde la primera exploración.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8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Miembros: Diego · Jimena · Yuridia ·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áctica 01 – Delitos financieros CDMX">
  <a:themeElements>
    <a:clrScheme name="Práctica 01 – Delitos financieros CDMX">
      <a:dk1>
        <a:srgbClr val="14213D"/>
      </a:dk1>
      <a:lt1>
        <a:srgbClr val="F4F1EA"/>
      </a:lt1>
      <a:dk2>
        <a:srgbClr val="4C5568"/>
      </a:dk2>
      <a:lt2>
        <a:srgbClr val="DEDCD9"/>
      </a:lt2>
      <a:accent1>
        <a:srgbClr val="B66A0E"/>
      </a:accent1>
      <a:accent2>
        <a:srgbClr val="E9A23B"/>
      </a:accent2>
      <a:accent3>
        <a:srgbClr val="BFC8D9"/>
      </a:accent3>
      <a:accent4>
        <a:srgbClr val="3D4A63"/>
      </a:accent4>
      <a:accent5>
        <a:srgbClr val="6B7486"/>
      </a:accent5>
      <a:accent6>
        <a:srgbClr val="9AA0A6"/>
      </a:accent6>
      <a:hlink>
        <a:srgbClr val="0563C1"/>
      </a:hlink>
      <a:folHlink>
        <a:srgbClr val="954F72"/>
      </a:folHlink>
    </a:clrScheme>
    <a:fontScheme name="Práctica 01 – Delitos financieros CDMX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 01 – Delitos financieros CDMX</dc:title>
  <dc:subject/>
  <dc:creator/>
  <cp:lastModifiedBy/>
  <cp:revision>1</cp:revision>
  <dcterms:created xsi:type="dcterms:W3CDTF">2026-10-27T19:23:10Z</dcterms:created>
  <dcterms:modified xsi:type="dcterms:W3CDTF">2026-10-27T19:23:10Z</dcterms:modified>
</cp:coreProperties>
</file>